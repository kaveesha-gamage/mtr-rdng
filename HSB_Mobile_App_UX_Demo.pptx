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C5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08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89904"/>
            <a:ext cx="12191695" cy="38100"/>
          </a:xfrm>
          <a:prstGeom prst="rect">
            <a:avLst/>
          </a:prstGeom>
          <a:solidFill>
            <a:srgbClr val="E8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869680" y="914400"/>
            <a:ext cx="2651760" cy="5029200"/>
          </a:xfrm>
          <a:prstGeom prst="roundRect">
            <a:avLst>
              <a:gd name="adj" fmla="val 9000"/>
            </a:avLst>
          </a:prstGeom>
          <a:solidFill>
            <a:srgbClr val="071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61120" y="1188720"/>
            <a:ext cx="2468880" cy="4526280"/>
          </a:xfrm>
          <a:prstGeom prst="roundRect">
            <a:avLst>
              <a:gd name="adj" fmla="val 10000"/>
            </a:avLst>
          </a:prstGeom>
          <a:solidFill>
            <a:srgbClr val="115E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29800" y="1005840"/>
            <a:ext cx="731520" cy="82296"/>
          </a:xfrm>
          <a:prstGeom prst="roundRect">
            <a:avLst>
              <a:gd name="adj" fmla="val 50000"/>
            </a:avLst>
          </a:prstGeom>
          <a:solidFill>
            <a:srgbClr val="071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829800" y="5824728"/>
            <a:ext cx="731520" cy="44450"/>
          </a:xfrm>
          <a:prstGeom prst="roundRect">
            <a:avLst>
              <a:gd name="adj" fmla="val 50000"/>
            </a:avLst>
          </a:prstGeom>
          <a:solidFill>
            <a:srgbClr val="9CC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25712" y="1325880"/>
            <a:ext cx="21396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 Semibold"/>
              </a:rPr>
              <a:t>HSB Field App</a:t>
            </a:r>
          </a:p>
        </p:txBody>
      </p:sp>
      <p:sp>
        <p:nvSpPr>
          <p:cNvPr id="9" name="Oval 8"/>
          <p:cNvSpPr/>
          <p:nvPr/>
        </p:nvSpPr>
        <p:spPr>
          <a:xfrm>
            <a:off x="9180576" y="1828800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0">
                <a:solidFill>
                  <a:srgbClr val="115EAD"/>
                </a:solidFill>
              </a:rPr>
              <a:t>🔐</a:t>
            </a:r>
          </a:p>
        </p:txBody>
      </p:sp>
      <p:sp>
        <p:nvSpPr>
          <p:cNvPr id="10" name="Oval 9"/>
          <p:cNvSpPr/>
          <p:nvPr/>
        </p:nvSpPr>
        <p:spPr>
          <a:xfrm>
            <a:off x="9893808" y="1828800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0">
                <a:solidFill>
                  <a:srgbClr val="115EAD"/>
                </a:solidFill>
              </a:rPr>
              <a:t>🏠</a:t>
            </a:r>
          </a:p>
        </p:txBody>
      </p:sp>
      <p:sp>
        <p:nvSpPr>
          <p:cNvPr id="11" name="Oval 10"/>
          <p:cNvSpPr/>
          <p:nvPr/>
        </p:nvSpPr>
        <p:spPr>
          <a:xfrm>
            <a:off x="10607040" y="1828800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0">
                <a:solidFill>
                  <a:srgbClr val="115EAD"/>
                </a:solidFill>
              </a:rPr>
              <a:t>📥</a:t>
            </a:r>
          </a:p>
        </p:txBody>
      </p:sp>
      <p:sp>
        <p:nvSpPr>
          <p:cNvPr id="12" name="Oval 11"/>
          <p:cNvSpPr/>
          <p:nvPr/>
        </p:nvSpPr>
        <p:spPr>
          <a:xfrm>
            <a:off x="9180576" y="2542032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0">
                <a:solidFill>
                  <a:srgbClr val="115EAD"/>
                </a:solidFill>
              </a:rPr>
              <a:t>📋</a:t>
            </a:r>
          </a:p>
        </p:txBody>
      </p:sp>
      <p:sp>
        <p:nvSpPr>
          <p:cNvPr id="13" name="Oval 12"/>
          <p:cNvSpPr/>
          <p:nvPr/>
        </p:nvSpPr>
        <p:spPr>
          <a:xfrm>
            <a:off x="9893808" y="2542032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0">
                <a:solidFill>
                  <a:srgbClr val="115EAD"/>
                </a:solidFill>
              </a:rPr>
              <a:t>👤</a:t>
            </a:r>
          </a:p>
        </p:txBody>
      </p:sp>
      <p:sp>
        <p:nvSpPr>
          <p:cNvPr id="14" name="Oval 13"/>
          <p:cNvSpPr/>
          <p:nvPr/>
        </p:nvSpPr>
        <p:spPr>
          <a:xfrm>
            <a:off x="10607040" y="2542032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0">
                <a:solidFill>
                  <a:srgbClr val="115EAD"/>
                </a:solidFill>
              </a:rPr>
              <a:t>✏️</a:t>
            </a:r>
          </a:p>
        </p:txBody>
      </p:sp>
      <p:sp>
        <p:nvSpPr>
          <p:cNvPr id="15" name="Oval 14"/>
          <p:cNvSpPr/>
          <p:nvPr/>
        </p:nvSpPr>
        <p:spPr>
          <a:xfrm>
            <a:off x="9180576" y="3255264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0">
                <a:solidFill>
                  <a:srgbClr val="115EAD"/>
                </a:solidFill>
              </a:rPr>
              <a:t>💾</a:t>
            </a:r>
          </a:p>
        </p:txBody>
      </p:sp>
      <p:sp>
        <p:nvSpPr>
          <p:cNvPr id="16" name="Oval 15"/>
          <p:cNvSpPr/>
          <p:nvPr/>
        </p:nvSpPr>
        <p:spPr>
          <a:xfrm>
            <a:off x="9893808" y="3255264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0">
                <a:solidFill>
                  <a:srgbClr val="115EAD"/>
                </a:solidFill>
              </a:rPr>
              <a:t>🔄</a:t>
            </a:r>
          </a:p>
        </p:txBody>
      </p:sp>
      <p:sp>
        <p:nvSpPr>
          <p:cNvPr id="17" name="Oval 16"/>
          <p:cNvSpPr/>
          <p:nvPr/>
        </p:nvSpPr>
        <p:spPr>
          <a:xfrm>
            <a:off x="10607040" y="3255264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0">
                <a:solidFill>
                  <a:srgbClr val="115EAD"/>
                </a:solidFill>
              </a:rPr>
              <a:t>⚙️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029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8BE6"/>
                </a:solidFill>
                <a:latin typeface="Segoe UI Semibold"/>
              </a:rPr>
              <a:t>CEYLON ELECTRICITY 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2011680"/>
            <a:ext cx="78638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Segoe UI"/>
              </a:rPr>
              <a:t>Mobile Application</a:t>
            </a:r>
          </a:p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Segoe UI"/>
              </a:rPr>
              <a:t>Demonstration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" y="3611880"/>
            <a:ext cx="1005840" cy="50800"/>
          </a:xfrm>
          <a:prstGeom prst="rect">
            <a:avLst/>
          </a:prstGeom>
          <a:solidFill>
            <a:srgbClr val="E8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840480"/>
            <a:ext cx="7315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CFE3F7"/>
                </a:solidFill>
                <a:latin typeface="Segoe UI"/>
              </a:rPr>
              <a:t>Heavy Supply Billing (HSB)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34340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9CC5EE"/>
                </a:solidFill>
                <a:latin typeface="Segoe UI Light"/>
              </a:rPr>
              <a:t>User Feedback Session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62636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7FA5CC"/>
                </a:solidFill>
                <a:latin typeface="Segoe UI"/>
              </a:rPr>
              <a:t>Prepared for End-User Demonstration  |  Confidential</a:t>
            </a:r>
          </a:p>
        </p:txBody>
      </p:sp>
    </p:spTree>
  </p:cSld>
  <p:transition spd="slow">
    <p:fade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A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38100"/>
          </a:xfrm>
          <a:prstGeom prst="rect">
            <a:avLst/>
          </a:prstGeom>
          <a:solidFill>
            <a:srgbClr val="E8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8BE6"/>
                </a:solidFill>
                <a:latin typeface="Segoe UI Semibold"/>
              </a:rPr>
              <a:t>GETTING STARTED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Purpose of Today's Session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41148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Segoe UI Light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73952"/>
            <a:ext cx="11183112" cy="15240"/>
          </a:xfrm>
          <a:prstGeom prst="rect">
            <a:avLst/>
          </a:prstGeom>
          <a:solidFill>
            <a:srgbClr val="D3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B7C"/>
                </a:solidFill>
                <a:latin typeface="Segoe UI"/>
              </a:rPr>
              <a:t>Heavy Supply Billing (HSB) – Mobile Application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510528"/>
            <a:ext cx="16276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B7C"/>
                </a:solidFill>
                <a:latin typeface="Segoe UI"/>
              </a:rPr>
              <a:t>02 / 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0876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5B6B7C"/>
                </a:solidFill>
                <a:latin typeface="Segoe UI"/>
              </a:rPr>
              <a:t>The Heavy Supply Billing (HSB) team relies on manual meter readings whenever smart-meter data isn't received automatically. This mobile application replaces the paper-based process with a simple, guided digital workflow.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423160"/>
            <a:ext cx="3520440" cy="35661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3E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2423160"/>
            <a:ext cx="3520440" cy="82296"/>
          </a:xfrm>
          <a:prstGeom prst="roundRect">
            <a:avLst>
              <a:gd name="adj" fmla="val 50000"/>
            </a:avLst>
          </a:prstGeom>
          <a:solidFill>
            <a:srgbClr val="115E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874520" y="2857500"/>
            <a:ext cx="868680" cy="868680"/>
          </a:xfrm>
          <a:prstGeom prst="ellipse">
            <a:avLst/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000" b="0">
                <a:solidFill>
                  <a:srgbClr val="115EAD"/>
                </a:solidFill>
              </a:rPr>
              <a:t>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931920"/>
            <a:ext cx="2971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B2633"/>
                </a:solidFill>
                <a:latin typeface="Segoe UI Semibold"/>
              </a:rPr>
              <a:t>Why It Was Developed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480560"/>
            <a:ext cx="28803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 i="0">
                <a:solidFill>
                  <a:srgbClr val="5B6B7C"/>
                </a:solidFill>
                <a:latin typeface="Segoe UI"/>
              </a:rPr>
              <a:t>Manual readings were tracked on paper, causing delays, lost records and rework.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2423160"/>
            <a:ext cx="3520440" cy="35661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3E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43400" y="2423160"/>
            <a:ext cx="3520440" cy="82296"/>
          </a:xfrm>
          <a:prstGeom prst="roundRect">
            <a:avLst>
              <a:gd name="adj" fmla="val 50000"/>
            </a:avLst>
          </a:prstGeom>
          <a:solidFill>
            <a:srgbClr val="115E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669280" y="2857500"/>
            <a:ext cx="868680" cy="868680"/>
          </a:xfrm>
          <a:prstGeom prst="ellipse">
            <a:avLst/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000" b="0">
                <a:solidFill>
                  <a:srgbClr val="115EAD"/>
                </a:solidFill>
              </a:rPr>
              <a:t>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3931920"/>
            <a:ext cx="2971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B2633"/>
                </a:solidFill>
                <a:latin typeface="Segoe UI Semibold"/>
              </a:rPr>
              <a:t>How It Simplifies Your 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4480560"/>
            <a:ext cx="28803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 i="0">
                <a:solidFill>
                  <a:srgbClr val="5B6B7C"/>
                </a:solidFill>
                <a:latin typeface="Segoe UI"/>
              </a:rPr>
              <a:t>Guided steps, offline saving and one-tap sync reduce paperwork and travel time.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2423160"/>
            <a:ext cx="3520440" cy="35661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3E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38160" y="2423160"/>
            <a:ext cx="3520440" cy="82296"/>
          </a:xfrm>
          <a:prstGeom prst="roundRect">
            <a:avLst>
              <a:gd name="adj" fmla="val 50000"/>
            </a:avLst>
          </a:prstGeom>
          <a:solidFill>
            <a:srgbClr val="115E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464040" y="2857500"/>
            <a:ext cx="868680" cy="868680"/>
          </a:xfrm>
          <a:prstGeom prst="ellipse">
            <a:avLst/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000" b="0">
                <a:solidFill>
                  <a:srgbClr val="115EAD"/>
                </a:solidFill>
              </a:rPr>
              <a:t>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3931920"/>
            <a:ext cx="2971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B2633"/>
                </a:solidFill>
                <a:latin typeface="Segoe UI Semibold"/>
              </a:rPr>
              <a:t>Today's Objective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4480560"/>
            <a:ext cx="28803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 i="0">
                <a:solidFill>
                  <a:srgbClr val="5B6B7C"/>
                </a:solidFill>
                <a:latin typeface="Segoe UI"/>
              </a:rPr>
              <a:t>Walk through the app end-to-end and collect your feedback before final release.</a:t>
            </a:r>
          </a:p>
        </p:txBody>
      </p:sp>
    </p:spTree>
  </p:cSld>
  <p:transition spd="slow">
    <p:fade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A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38100"/>
          </a:xfrm>
          <a:prstGeom prst="rect">
            <a:avLst/>
          </a:prstGeom>
          <a:solidFill>
            <a:srgbClr val="E8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8BE6"/>
                </a:solidFill>
                <a:latin typeface="Segoe UI Semibold"/>
              </a:rPr>
              <a:t>HOW IT ALL FITS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Application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41148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Segoe UI Light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73952"/>
            <a:ext cx="11183112" cy="15240"/>
          </a:xfrm>
          <a:prstGeom prst="rect">
            <a:avLst/>
          </a:prstGeom>
          <a:solidFill>
            <a:srgbClr val="D3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B7C"/>
                </a:solidFill>
                <a:latin typeface="Segoe UI"/>
              </a:rPr>
              <a:t>Heavy Supply Billing (HSB) – Mobile Application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510528"/>
            <a:ext cx="16276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B7C"/>
                </a:solidFill>
                <a:latin typeface="Segoe UI"/>
              </a:rPr>
              <a:t>03 / 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B6B7C"/>
                </a:solidFill>
                <a:latin typeface="Segoe UI"/>
              </a:rPr>
              <a:t>Nine simple steps take you from login to a fully synchronised reading.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965960"/>
            <a:ext cx="3246120" cy="1234440"/>
          </a:xfrm>
          <a:prstGeom prst="roundRect">
            <a:avLst>
              <a:gd name="adj" fmla="val 10000"/>
            </a:avLst>
          </a:prstGeom>
          <a:solidFill>
            <a:srgbClr val="EAF3FC"/>
          </a:solidFill>
          <a:ln w="12700">
            <a:solidFill>
              <a:srgbClr val="D3E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32104" y="2253996"/>
            <a:ext cx="658368" cy="658368"/>
          </a:xfrm>
          <a:prstGeom prst="ellipse">
            <a:avLst/>
          </a:prstGeom>
          <a:solidFill>
            <a:srgbClr val="115E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0">
                <a:solidFill>
                  <a:srgbClr val="FFFFFF"/>
                </a:solidFill>
              </a:rPr>
              <a:t>🔒</a:t>
            </a:r>
          </a:p>
        </p:txBody>
      </p:sp>
      <p:sp>
        <p:nvSpPr>
          <p:cNvPr id="13" name="Oval 12"/>
          <p:cNvSpPr/>
          <p:nvPr/>
        </p:nvSpPr>
        <p:spPr>
          <a:xfrm>
            <a:off x="3529584" y="2075688"/>
            <a:ext cx="384048" cy="384048"/>
          </a:xfrm>
          <a:prstGeom prst="ellipse">
            <a:avLst/>
          </a:prstGeom>
          <a:solidFill>
            <a:srgbClr val="0A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18488" y="1965960"/>
            <a:ext cx="205740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B2633"/>
                </a:solidFill>
                <a:latin typeface="Segoe UI Semibold"/>
              </a:rPr>
              <a:t>Login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60520" y="1965960"/>
            <a:ext cx="3246120" cy="1234440"/>
          </a:xfrm>
          <a:prstGeom prst="roundRect">
            <a:avLst>
              <a:gd name="adj" fmla="val 10000"/>
            </a:avLst>
          </a:prstGeom>
          <a:solidFill>
            <a:srgbClr val="EAF3FC"/>
          </a:solidFill>
          <a:ln w="12700">
            <a:solidFill>
              <a:srgbClr val="D3E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398264" y="2253996"/>
            <a:ext cx="658368" cy="658368"/>
          </a:xfrm>
          <a:prstGeom prst="ellipse">
            <a:avLst/>
          </a:prstGeom>
          <a:solidFill>
            <a:srgbClr val="115E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0">
                <a:solidFill>
                  <a:srgbClr val="FFFFFF"/>
                </a:solidFill>
              </a:rPr>
              <a:t>🏠</a:t>
            </a:r>
          </a:p>
        </p:txBody>
      </p:sp>
      <p:sp>
        <p:nvSpPr>
          <p:cNvPr id="17" name="Oval 16"/>
          <p:cNvSpPr/>
          <p:nvPr/>
        </p:nvSpPr>
        <p:spPr>
          <a:xfrm>
            <a:off x="7095744" y="2075688"/>
            <a:ext cx="384048" cy="384048"/>
          </a:xfrm>
          <a:prstGeom prst="ellipse">
            <a:avLst/>
          </a:prstGeom>
          <a:solidFill>
            <a:srgbClr val="0A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84648" y="1965960"/>
            <a:ext cx="205740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B2633"/>
                </a:solidFill>
                <a:latin typeface="Segoe UI Semibold"/>
              </a:rPr>
              <a:t>Dashboard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26680" y="1965960"/>
            <a:ext cx="3246120" cy="1234440"/>
          </a:xfrm>
          <a:prstGeom prst="roundRect">
            <a:avLst>
              <a:gd name="adj" fmla="val 10000"/>
            </a:avLst>
          </a:prstGeom>
          <a:solidFill>
            <a:srgbClr val="EAF3FC"/>
          </a:solidFill>
          <a:ln w="12700">
            <a:solidFill>
              <a:srgbClr val="D3E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964424" y="2253996"/>
            <a:ext cx="658368" cy="658368"/>
          </a:xfrm>
          <a:prstGeom prst="ellipse">
            <a:avLst/>
          </a:prstGeom>
          <a:solidFill>
            <a:srgbClr val="115E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0">
                <a:solidFill>
                  <a:srgbClr val="FFFFFF"/>
                </a:solidFill>
              </a:rPr>
              <a:t>📥</a:t>
            </a:r>
          </a:p>
        </p:txBody>
      </p:sp>
      <p:sp>
        <p:nvSpPr>
          <p:cNvPr id="21" name="Oval 20"/>
          <p:cNvSpPr/>
          <p:nvPr/>
        </p:nvSpPr>
        <p:spPr>
          <a:xfrm>
            <a:off x="10661904" y="2075688"/>
            <a:ext cx="384048" cy="384048"/>
          </a:xfrm>
          <a:prstGeom prst="ellipse">
            <a:avLst/>
          </a:prstGeom>
          <a:solidFill>
            <a:srgbClr val="0A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50808" y="1965960"/>
            <a:ext cx="205740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B2633"/>
                </a:solidFill>
                <a:latin typeface="Segoe UI Semibold"/>
              </a:rPr>
              <a:t>Download</a:t>
            </a:r>
          </a:p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B2633"/>
                </a:solidFill>
                <a:latin typeface="Segoe UI Semibold"/>
              </a:rPr>
              <a:t>Pending Readings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26680" y="3611880"/>
            <a:ext cx="3246120" cy="1234440"/>
          </a:xfrm>
          <a:prstGeom prst="roundRect">
            <a:avLst>
              <a:gd name="adj" fmla="val 10000"/>
            </a:avLst>
          </a:prstGeom>
          <a:solidFill>
            <a:srgbClr val="EAF3FC"/>
          </a:solidFill>
          <a:ln w="12700">
            <a:solidFill>
              <a:srgbClr val="D3E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964424" y="3899916"/>
            <a:ext cx="658368" cy="658368"/>
          </a:xfrm>
          <a:prstGeom prst="ellipse">
            <a:avLst/>
          </a:prstGeom>
          <a:solidFill>
            <a:srgbClr val="115E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25" name="Oval 24"/>
          <p:cNvSpPr/>
          <p:nvPr/>
        </p:nvSpPr>
        <p:spPr>
          <a:xfrm>
            <a:off x="10661904" y="3721608"/>
            <a:ext cx="384048" cy="384048"/>
          </a:xfrm>
          <a:prstGeom prst="ellipse">
            <a:avLst/>
          </a:prstGeom>
          <a:solidFill>
            <a:srgbClr val="0A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0808" y="3611880"/>
            <a:ext cx="205740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B2633"/>
                </a:solidFill>
                <a:latin typeface="Segoe UI Semibold"/>
              </a:rPr>
              <a:t>View Pending</a:t>
            </a:r>
          </a:p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B2633"/>
                </a:solidFill>
                <a:latin typeface="Segoe UI Semibold"/>
              </a:rPr>
              <a:t>Reading List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60520" y="3611880"/>
            <a:ext cx="3246120" cy="1234440"/>
          </a:xfrm>
          <a:prstGeom prst="roundRect">
            <a:avLst>
              <a:gd name="adj" fmla="val 10000"/>
            </a:avLst>
          </a:prstGeom>
          <a:solidFill>
            <a:srgbClr val="EAF3FC"/>
          </a:solidFill>
          <a:ln w="12700">
            <a:solidFill>
              <a:srgbClr val="D3E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398264" y="3899916"/>
            <a:ext cx="658368" cy="658368"/>
          </a:xfrm>
          <a:prstGeom prst="ellipse">
            <a:avLst/>
          </a:prstGeom>
          <a:solidFill>
            <a:srgbClr val="115E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0">
                <a:solidFill>
                  <a:srgbClr val="FFFFFF"/>
                </a:solidFill>
              </a:rPr>
              <a:t>👤</a:t>
            </a:r>
          </a:p>
        </p:txBody>
      </p:sp>
      <p:sp>
        <p:nvSpPr>
          <p:cNvPr id="29" name="Oval 28"/>
          <p:cNvSpPr/>
          <p:nvPr/>
        </p:nvSpPr>
        <p:spPr>
          <a:xfrm>
            <a:off x="7095744" y="3721608"/>
            <a:ext cx="384048" cy="384048"/>
          </a:xfrm>
          <a:prstGeom prst="ellipse">
            <a:avLst/>
          </a:prstGeom>
          <a:solidFill>
            <a:srgbClr val="0A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84648" y="3611880"/>
            <a:ext cx="205740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B2633"/>
                </a:solidFill>
                <a:latin typeface="Segoe UI Semibold"/>
              </a:rPr>
              <a:t>Open</a:t>
            </a:r>
          </a:p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B2633"/>
                </a:solidFill>
                <a:latin typeface="Segoe UI Semibold"/>
              </a:rPr>
              <a:t>Customer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" y="3611880"/>
            <a:ext cx="3246120" cy="1234440"/>
          </a:xfrm>
          <a:prstGeom prst="roundRect">
            <a:avLst>
              <a:gd name="adj" fmla="val 10000"/>
            </a:avLst>
          </a:prstGeom>
          <a:solidFill>
            <a:srgbClr val="EAF3FC"/>
          </a:solidFill>
          <a:ln w="12700">
            <a:solidFill>
              <a:srgbClr val="D3E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2104" y="3899916"/>
            <a:ext cx="658368" cy="658368"/>
          </a:xfrm>
          <a:prstGeom prst="ellipse">
            <a:avLst/>
          </a:prstGeom>
          <a:solidFill>
            <a:srgbClr val="115E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0">
                <a:solidFill>
                  <a:srgbClr val="FFFFFF"/>
                </a:solidFill>
              </a:rPr>
              <a:t>✏️</a:t>
            </a:r>
          </a:p>
        </p:txBody>
      </p:sp>
      <p:sp>
        <p:nvSpPr>
          <p:cNvPr id="33" name="Oval 32"/>
          <p:cNvSpPr/>
          <p:nvPr/>
        </p:nvSpPr>
        <p:spPr>
          <a:xfrm>
            <a:off x="3529584" y="3721608"/>
            <a:ext cx="384048" cy="384048"/>
          </a:xfrm>
          <a:prstGeom prst="ellipse">
            <a:avLst/>
          </a:prstGeom>
          <a:solidFill>
            <a:srgbClr val="0A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18488" y="3611880"/>
            <a:ext cx="205740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B2633"/>
                </a:solidFill>
                <a:latin typeface="Segoe UI Semibold"/>
              </a:rPr>
              <a:t>Enter Current</a:t>
            </a:r>
          </a:p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B2633"/>
                </a:solidFill>
                <a:latin typeface="Segoe UI Semibold"/>
              </a:rPr>
              <a:t>Reading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5257800"/>
            <a:ext cx="3246120" cy="1234440"/>
          </a:xfrm>
          <a:prstGeom prst="roundRect">
            <a:avLst>
              <a:gd name="adj" fmla="val 10000"/>
            </a:avLst>
          </a:prstGeom>
          <a:solidFill>
            <a:srgbClr val="EAF3FC"/>
          </a:solidFill>
          <a:ln w="12700">
            <a:solidFill>
              <a:srgbClr val="D3E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32104" y="5545836"/>
            <a:ext cx="658368" cy="658368"/>
          </a:xfrm>
          <a:prstGeom prst="ellipse">
            <a:avLst/>
          </a:prstGeom>
          <a:solidFill>
            <a:srgbClr val="115E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0">
                <a:solidFill>
                  <a:srgbClr val="FFFFFF"/>
                </a:solidFill>
              </a:rPr>
              <a:t>💾</a:t>
            </a:r>
          </a:p>
        </p:txBody>
      </p:sp>
      <p:sp>
        <p:nvSpPr>
          <p:cNvPr id="37" name="Oval 36"/>
          <p:cNvSpPr/>
          <p:nvPr/>
        </p:nvSpPr>
        <p:spPr>
          <a:xfrm>
            <a:off x="3529584" y="5367528"/>
            <a:ext cx="384048" cy="384048"/>
          </a:xfrm>
          <a:prstGeom prst="ellipse">
            <a:avLst/>
          </a:prstGeom>
          <a:solidFill>
            <a:srgbClr val="0A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18488" y="5257800"/>
            <a:ext cx="205740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B2633"/>
                </a:solidFill>
                <a:latin typeface="Segoe UI Semibold"/>
              </a:rPr>
              <a:t>Save</a:t>
            </a:r>
          </a:p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B2633"/>
                </a:solidFill>
                <a:latin typeface="Segoe UI Semibold"/>
              </a:rPr>
              <a:t>Reading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160520" y="5257800"/>
            <a:ext cx="3246120" cy="1234440"/>
          </a:xfrm>
          <a:prstGeom prst="roundRect">
            <a:avLst>
              <a:gd name="adj" fmla="val 10000"/>
            </a:avLst>
          </a:prstGeom>
          <a:solidFill>
            <a:srgbClr val="EAF3FC"/>
          </a:solidFill>
          <a:ln w="12700">
            <a:solidFill>
              <a:srgbClr val="D3E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398264" y="5545836"/>
            <a:ext cx="658368" cy="658368"/>
          </a:xfrm>
          <a:prstGeom prst="ellipse">
            <a:avLst/>
          </a:prstGeom>
          <a:solidFill>
            <a:srgbClr val="115E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0">
                <a:solidFill>
                  <a:srgbClr val="FFFFFF"/>
                </a:solidFill>
              </a:rPr>
              <a:t>🔄</a:t>
            </a:r>
          </a:p>
        </p:txBody>
      </p:sp>
      <p:sp>
        <p:nvSpPr>
          <p:cNvPr id="41" name="Oval 40"/>
          <p:cNvSpPr/>
          <p:nvPr/>
        </p:nvSpPr>
        <p:spPr>
          <a:xfrm>
            <a:off x="7095744" y="5367528"/>
            <a:ext cx="384048" cy="384048"/>
          </a:xfrm>
          <a:prstGeom prst="ellipse">
            <a:avLst/>
          </a:prstGeom>
          <a:solidFill>
            <a:srgbClr val="0A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84648" y="5257800"/>
            <a:ext cx="205740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B2633"/>
                </a:solidFill>
                <a:latin typeface="Segoe UI Semibold"/>
              </a:rPr>
              <a:t>Synchronize</a:t>
            </a:r>
          </a:p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B2633"/>
                </a:solidFill>
                <a:latin typeface="Segoe UI Semibold"/>
              </a:rPr>
              <a:t>Data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26680" y="5257800"/>
            <a:ext cx="3246120" cy="1234440"/>
          </a:xfrm>
          <a:prstGeom prst="roundRect">
            <a:avLst>
              <a:gd name="adj" fmla="val 10000"/>
            </a:avLst>
          </a:prstGeom>
          <a:solidFill>
            <a:srgbClr val="EAF3FC"/>
          </a:solidFill>
          <a:ln w="12700">
            <a:solidFill>
              <a:srgbClr val="D3E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964424" y="5545836"/>
            <a:ext cx="658368" cy="658368"/>
          </a:xfrm>
          <a:prstGeom prst="ellipse">
            <a:avLst/>
          </a:prstGeom>
          <a:solidFill>
            <a:srgbClr val="115E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0">
                <a:solidFill>
                  <a:srgbClr val="FFFFFF"/>
                </a:solidFill>
              </a:rPr>
              <a:t>🚪</a:t>
            </a:r>
          </a:p>
        </p:txBody>
      </p:sp>
      <p:sp>
        <p:nvSpPr>
          <p:cNvPr id="45" name="Oval 44"/>
          <p:cNvSpPr/>
          <p:nvPr/>
        </p:nvSpPr>
        <p:spPr>
          <a:xfrm>
            <a:off x="10661904" y="5367528"/>
            <a:ext cx="384048" cy="384048"/>
          </a:xfrm>
          <a:prstGeom prst="ellipse">
            <a:avLst/>
          </a:prstGeom>
          <a:solidFill>
            <a:srgbClr val="0A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50808" y="5257800"/>
            <a:ext cx="205740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B2633"/>
                </a:solidFill>
                <a:latin typeface="Segoe UI Semibold"/>
              </a:rPr>
              <a:t>Logout</a:t>
            </a:r>
          </a:p>
        </p:txBody>
      </p:sp>
      <p:sp>
        <p:nvSpPr>
          <p:cNvPr id="47" name="Chevron 46"/>
          <p:cNvSpPr/>
          <p:nvPr/>
        </p:nvSpPr>
        <p:spPr>
          <a:xfrm>
            <a:off x="3867912" y="2464308"/>
            <a:ext cx="265176" cy="237744"/>
          </a:xfrm>
          <a:prstGeom prst="chevron">
            <a:avLst/>
          </a:prstGeom>
          <a:solidFill>
            <a:srgbClr val="2E8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Chevron 47"/>
          <p:cNvSpPr/>
          <p:nvPr/>
        </p:nvSpPr>
        <p:spPr>
          <a:xfrm>
            <a:off x="7434072" y="2464308"/>
            <a:ext cx="265176" cy="237744"/>
          </a:xfrm>
          <a:prstGeom prst="chevron">
            <a:avLst/>
          </a:prstGeom>
          <a:solidFill>
            <a:srgbClr val="2E8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Chevron 48"/>
          <p:cNvSpPr/>
          <p:nvPr/>
        </p:nvSpPr>
        <p:spPr>
          <a:xfrm rot="10800000">
            <a:off x="7434072" y="4110228"/>
            <a:ext cx="265176" cy="237744"/>
          </a:xfrm>
          <a:prstGeom prst="chevron">
            <a:avLst/>
          </a:prstGeom>
          <a:solidFill>
            <a:srgbClr val="2E8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Chevron 49"/>
          <p:cNvSpPr/>
          <p:nvPr/>
        </p:nvSpPr>
        <p:spPr>
          <a:xfrm rot="10800000">
            <a:off x="3867912" y="4110228"/>
            <a:ext cx="265176" cy="237744"/>
          </a:xfrm>
          <a:prstGeom prst="chevron">
            <a:avLst/>
          </a:prstGeom>
          <a:solidFill>
            <a:srgbClr val="2E8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Chevron 50"/>
          <p:cNvSpPr/>
          <p:nvPr/>
        </p:nvSpPr>
        <p:spPr>
          <a:xfrm>
            <a:off x="3867912" y="5756148"/>
            <a:ext cx="265176" cy="237744"/>
          </a:xfrm>
          <a:prstGeom prst="chevron">
            <a:avLst/>
          </a:prstGeom>
          <a:solidFill>
            <a:srgbClr val="2E8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Chevron 51"/>
          <p:cNvSpPr/>
          <p:nvPr/>
        </p:nvSpPr>
        <p:spPr>
          <a:xfrm>
            <a:off x="7434072" y="5756148"/>
            <a:ext cx="265176" cy="237744"/>
          </a:xfrm>
          <a:prstGeom prst="chevron">
            <a:avLst/>
          </a:prstGeom>
          <a:solidFill>
            <a:srgbClr val="2E8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Down Arrow 52"/>
          <p:cNvSpPr/>
          <p:nvPr/>
        </p:nvSpPr>
        <p:spPr>
          <a:xfrm>
            <a:off x="10469880" y="3236976"/>
            <a:ext cx="365760" cy="338328"/>
          </a:xfrm>
          <a:prstGeom prst="downArrow">
            <a:avLst/>
          </a:prstGeom>
          <a:solidFill>
            <a:srgbClr val="2E8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Down Arrow 53"/>
          <p:cNvSpPr/>
          <p:nvPr/>
        </p:nvSpPr>
        <p:spPr>
          <a:xfrm>
            <a:off x="731520" y="4882896"/>
            <a:ext cx="365760" cy="338328"/>
          </a:xfrm>
          <a:prstGeom prst="downArrow">
            <a:avLst/>
          </a:prstGeom>
          <a:solidFill>
            <a:srgbClr val="2E8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slow">
    <p:fade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A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38100"/>
          </a:xfrm>
          <a:prstGeom prst="rect">
            <a:avLst/>
          </a:prstGeom>
          <a:solidFill>
            <a:srgbClr val="E8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8BE6"/>
                </a:solidFill>
                <a:latin typeface="Segoe UI Semibold"/>
              </a:rPr>
              <a:t>STEP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Login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41148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Segoe UI Light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73952"/>
            <a:ext cx="11183112" cy="15240"/>
          </a:xfrm>
          <a:prstGeom prst="rect">
            <a:avLst/>
          </a:prstGeom>
          <a:solidFill>
            <a:srgbClr val="D3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B7C"/>
                </a:solidFill>
                <a:latin typeface="Segoe UI"/>
              </a:rPr>
              <a:t>Heavy Supply Billing (HSB) – Mobile Application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510528"/>
            <a:ext cx="16276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B7C"/>
                </a:solidFill>
                <a:latin typeface="Segoe UI"/>
              </a:rPr>
              <a:t>04 / 14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115E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0">
                <a:solidFill>
                  <a:srgbClr val="FFFFFF"/>
                </a:solidFill>
              </a:rPr>
              <a:t>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2728" y="1664208"/>
            <a:ext cx="5605272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B2633"/>
                </a:solidFill>
                <a:latin typeface="Segoe UI Semibold"/>
              </a:rPr>
              <a:t>Enter Your Credentials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5B6B7C"/>
                </a:solidFill>
                <a:latin typeface="Segoe UI"/>
              </a:rPr>
              <a:t>Sign in with your assigned username and password.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743200"/>
            <a:ext cx="502920" cy="502920"/>
          </a:xfrm>
          <a:prstGeom prst="ellipse">
            <a:avLst/>
          </a:prstGeom>
          <a:solidFill>
            <a:srgbClr val="115E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0">
                <a:solidFill>
                  <a:srgbClr val="FFFFFF"/>
                </a:solidFill>
              </a:rPr>
              <a:t>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2728" y="2715768"/>
            <a:ext cx="5605272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B2633"/>
                </a:solidFill>
                <a:latin typeface="Segoe UI Semibold"/>
              </a:rPr>
              <a:t>Secure Authentication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5B6B7C"/>
                </a:solidFill>
                <a:latin typeface="Segoe UI"/>
              </a:rPr>
              <a:t>Your login is protected and verified every time.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794760"/>
            <a:ext cx="502920" cy="502920"/>
          </a:xfrm>
          <a:prstGeom prst="ellipse">
            <a:avLst/>
          </a:prstGeom>
          <a:solidFill>
            <a:srgbClr val="115E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2728" y="3767328"/>
            <a:ext cx="5605272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B2633"/>
                </a:solidFill>
                <a:latin typeface="Segoe UI Semibold"/>
              </a:rPr>
              <a:t>Authorized Access Only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5B6B7C"/>
                </a:solidFill>
                <a:latin typeface="Segoe UI"/>
              </a:rPr>
              <a:t>Only registered HSB field staff can access the app.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60920" y="1600200"/>
            <a:ext cx="4160520" cy="4617720"/>
          </a:xfrm>
          <a:prstGeom prst="roundRect">
            <a:avLst>
              <a:gd name="adj" fmla="val 9000"/>
            </a:avLst>
          </a:prstGeom>
          <a:solidFill>
            <a:srgbClr val="0A2C54"/>
          </a:solidFill>
          <a:ln w="12700">
            <a:solidFill>
              <a:srgbClr val="081E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43216" y="1837944"/>
            <a:ext cx="3995928" cy="4197096"/>
          </a:xfrm>
          <a:prstGeom prst="roundRect">
            <a:avLst>
              <a:gd name="adj" fmla="val 10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029700" y="1682496"/>
            <a:ext cx="822960" cy="82296"/>
          </a:xfrm>
          <a:prstGeom prst="roundRect">
            <a:avLst>
              <a:gd name="adj" fmla="val 50000"/>
            </a:avLst>
          </a:prstGeom>
          <a:solidFill>
            <a:srgbClr val="08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029700" y="6099048"/>
            <a:ext cx="822960" cy="44450"/>
          </a:xfrm>
          <a:prstGeom prst="roundRect">
            <a:avLst>
              <a:gd name="adj" fmla="val 50000"/>
            </a:avLst>
          </a:prstGeom>
          <a:solidFill>
            <a:srgbClr val="3A5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580376" y="1975104"/>
            <a:ext cx="3721608" cy="3922776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115EA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109728" rIns="109728" tIns="91440" bIns="320040"/>
          <a:lstStyle/>
          <a:p>
            <a:pPr algn="ctr"/>
            <a:r>
              <a:rPr sz="1300" i="1" b="1">
                <a:solidFill>
                  <a:srgbClr val="115EAD"/>
                </a:solidFill>
                <a:latin typeface="Segoe UI"/>
              </a:rPr>
              <a:t>[Insert Login Screen Screenshot]</a:t>
            </a:r>
          </a:p>
        </p:txBody>
      </p:sp>
      <p:sp>
        <p:nvSpPr>
          <p:cNvPr id="21" name="Oval 20"/>
          <p:cNvSpPr/>
          <p:nvPr/>
        </p:nvSpPr>
        <p:spPr>
          <a:xfrm>
            <a:off x="9189720" y="3364992"/>
            <a:ext cx="502920" cy="502920"/>
          </a:xfrm>
          <a:prstGeom prst="ellipse">
            <a:avLst/>
          </a:prstGeom>
          <a:solidFill>
            <a:srgbClr val="115E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0">
                <a:solidFill>
                  <a:srgbClr val="FFFFFF"/>
                </a:solidFill>
              </a:rPr>
              <a:t>📷</a:t>
            </a:r>
          </a:p>
        </p:txBody>
      </p:sp>
    </p:spTree>
  </p:cSld>
  <p:transition spd="slow">
    <p:fade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A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38100"/>
          </a:xfrm>
          <a:prstGeom prst="rect">
            <a:avLst/>
          </a:prstGeom>
          <a:solidFill>
            <a:srgbClr val="E8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8BE6"/>
                </a:solidFill>
                <a:latin typeface="Segoe UI Semibold"/>
              </a:rPr>
              <a:t>STEP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41148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Segoe UI Light"/>
              </a:rP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73952"/>
            <a:ext cx="11183112" cy="15240"/>
          </a:xfrm>
          <a:prstGeom prst="rect">
            <a:avLst/>
          </a:prstGeom>
          <a:solidFill>
            <a:srgbClr val="D3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B7C"/>
                </a:solidFill>
                <a:latin typeface="Segoe UI"/>
              </a:rPr>
              <a:t>Heavy Supply Billing (HSB) – Mobile Application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510528"/>
            <a:ext cx="16276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B7C"/>
                </a:solidFill>
                <a:latin typeface="Segoe UI"/>
              </a:rPr>
              <a:t>05 / 14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115E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0">
                <a:solidFill>
                  <a:srgbClr val="FFFFFF"/>
                </a:solidFill>
              </a:rPr>
              <a:t>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2728" y="1664208"/>
            <a:ext cx="5605272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B2633"/>
                </a:solidFill>
                <a:latin typeface="Segoe UI Semibold"/>
              </a:rPr>
              <a:t>Your Main Landing Page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5B6B7C"/>
                </a:solidFill>
                <a:latin typeface="Segoe UI"/>
              </a:rPr>
              <a:t>See a quick overview the moment you log in.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743200"/>
            <a:ext cx="502920" cy="502920"/>
          </a:xfrm>
          <a:prstGeom prst="ellipse">
            <a:avLst/>
          </a:prstGeom>
          <a:solidFill>
            <a:srgbClr val="115E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0">
                <a:solidFill>
                  <a:srgbClr val="FFFFFF"/>
                </a:solidFill>
              </a:rPr>
              <a:t>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2728" y="2715768"/>
            <a:ext cx="5605272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B2633"/>
                </a:solidFill>
                <a:latin typeface="Segoe UI Semibold"/>
              </a:rPr>
              <a:t>Available Actions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5B6B7C"/>
                </a:solidFill>
                <a:latin typeface="Segoe UI"/>
              </a:rPr>
              <a:t>Quickly reach downloads, pending readings and sync.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794760"/>
            <a:ext cx="502920" cy="502920"/>
          </a:xfrm>
          <a:prstGeom prst="ellipse">
            <a:avLst/>
          </a:prstGeom>
          <a:solidFill>
            <a:srgbClr val="115E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0">
                <a:solidFill>
                  <a:srgbClr val="FFFFFF"/>
                </a:solidFill>
              </a:rPr>
              <a:t>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2728" y="3767328"/>
            <a:ext cx="5605272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B2633"/>
                </a:solidFill>
                <a:latin typeface="Segoe UI Semibold"/>
              </a:rPr>
              <a:t>Easy Navigation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5B6B7C"/>
                </a:solidFill>
                <a:latin typeface="Segoe UI"/>
              </a:rPr>
              <a:t>Simple menus designed for one-hand field use.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60920" y="1600200"/>
            <a:ext cx="4160520" cy="4617720"/>
          </a:xfrm>
          <a:prstGeom prst="roundRect">
            <a:avLst>
              <a:gd name="adj" fmla="val 9000"/>
            </a:avLst>
          </a:prstGeom>
          <a:solidFill>
            <a:srgbClr val="0A2C54"/>
          </a:solidFill>
          <a:ln w="12700">
            <a:solidFill>
              <a:srgbClr val="081E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43216" y="1837944"/>
            <a:ext cx="3995928" cy="4197096"/>
          </a:xfrm>
          <a:prstGeom prst="roundRect">
            <a:avLst>
              <a:gd name="adj" fmla="val 10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029700" y="1682496"/>
            <a:ext cx="822960" cy="82296"/>
          </a:xfrm>
          <a:prstGeom prst="roundRect">
            <a:avLst>
              <a:gd name="adj" fmla="val 50000"/>
            </a:avLst>
          </a:prstGeom>
          <a:solidFill>
            <a:srgbClr val="08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029700" y="6099048"/>
            <a:ext cx="822960" cy="44450"/>
          </a:xfrm>
          <a:prstGeom prst="roundRect">
            <a:avLst>
              <a:gd name="adj" fmla="val 50000"/>
            </a:avLst>
          </a:prstGeom>
          <a:solidFill>
            <a:srgbClr val="3A5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580376" y="1975104"/>
            <a:ext cx="3721608" cy="3922776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115EA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109728" rIns="109728" tIns="91440" bIns="320040"/>
          <a:lstStyle/>
          <a:p>
            <a:pPr algn="ctr"/>
            <a:r>
              <a:rPr sz="1300" i="1" b="1">
                <a:solidFill>
                  <a:srgbClr val="115EAD"/>
                </a:solidFill>
                <a:latin typeface="Segoe UI"/>
              </a:rPr>
              <a:t>[Insert Dashboard Screenshot]</a:t>
            </a:r>
          </a:p>
        </p:txBody>
      </p:sp>
      <p:sp>
        <p:nvSpPr>
          <p:cNvPr id="21" name="Oval 20"/>
          <p:cNvSpPr/>
          <p:nvPr/>
        </p:nvSpPr>
        <p:spPr>
          <a:xfrm>
            <a:off x="9189720" y="3364992"/>
            <a:ext cx="502920" cy="502920"/>
          </a:xfrm>
          <a:prstGeom prst="ellipse">
            <a:avLst/>
          </a:prstGeom>
          <a:solidFill>
            <a:srgbClr val="115E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0">
                <a:solidFill>
                  <a:srgbClr val="FFFFFF"/>
                </a:solidFill>
              </a:rPr>
              <a:t>📷</a:t>
            </a:r>
          </a:p>
        </p:txBody>
      </p:sp>
    </p:spTree>
  </p:cSld>
  <p:transition spd="slow">
    <p:fade/>
  </p:transition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A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38100"/>
          </a:xfrm>
          <a:prstGeom prst="rect">
            <a:avLst/>
          </a:prstGeom>
          <a:solidFill>
            <a:srgbClr val="E8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8BE6"/>
                </a:solidFill>
                <a:latin typeface="Segoe UI Semibold"/>
              </a:rPr>
              <a:t>STEP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Download Pending Readings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41148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Segoe UI Light"/>
              </a:rPr>
              <a:t>06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73952"/>
            <a:ext cx="11183112" cy="15240"/>
          </a:xfrm>
          <a:prstGeom prst="rect">
            <a:avLst/>
          </a:prstGeom>
          <a:solidFill>
            <a:srgbClr val="D3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B7C"/>
                </a:solidFill>
                <a:latin typeface="Segoe UI"/>
              </a:rPr>
              <a:t>Heavy Supply Billing (HSB) – Mobile Application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510528"/>
            <a:ext cx="16276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B7C"/>
                </a:solidFill>
                <a:latin typeface="Segoe UI"/>
              </a:rPr>
              <a:t>06 / 14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115E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0">
                <a:solidFill>
                  <a:srgbClr val="FFFFFF"/>
                </a:solidFill>
              </a:rPr>
              <a:t>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2728" y="1664208"/>
            <a:ext cx="5605272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B2633"/>
                </a:solidFill>
                <a:latin typeface="Segoe UI Semibold"/>
              </a:rPr>
              <a:t>Retrieve Assigned Readings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5B6B7C"/>
                </a:solidFill>
                <a:latin typeface="Segoe UI"/>
              </a:rPr>
              <a:t>Pull the latest list of readings assigned to you.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743200"/>
            <a:ext cx="502920" cy="502920"/>
          </a:xfrm>
          <a:prstGeom prst="ellipse">
            <a:avLst/>
          </a:prstGeom>
          <a:solidFill>
            <a:srgbClr val="115E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2728" y="2715768"/>
            <a:ext cx="5605272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B2633"/>
                </a:solidFill>
                <a:latin typeface="Segoe UI Semibold"/>
              </a:rPr>
              <a:t>Only Relevant Records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5B6B7C"/>
                </a:solidFill>
                <a:latin typeface="Segoe UI"/>
              </a:rPr>
              <a:t>Just the customers assigned to your route are downloaded.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794760"/>
            <a:ext cx="502920" cy="502920"/>
          </a:xfrm>
          <a:prstGeom prst="ellipse">
            <a:avLst/>
          </a:prstGeom>
          <a:solidFill>
            <a:srgbClr val="115E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0">
                <a:solidFill>
                  <a:srgbClr val="FFFFFF"/>
                </a:solidFill>
              </a:rPr>
              <a:t>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2728" y="3767328"/>
            <a:ext cx="5605272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B2633"/>
                </a:solidFill>
                <a:latin typeface="Segoe UI Semibold"/>
              </a:rPr>
              <a:t>Ready for Field Work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5B6B7C"/>
                </a:solidFill>
                <a:latin typeface="Segoe UI"/>
              </a:rPr>
              <a:t>Data is stored on your device, even without signal.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60920" y="1600200"/>
            <a:ext cx="4160520" cy="4617720"/>
          </a:xfrm>
          <a:prstGeom prst="roundRect">
            <a:avLst>
              <a:gd name="adj" fmla="val 9000"/>
            </a:avLst>
          </a:prstGeom>
          <a:solidFill>
            <a:srgbClr val="0A2C54"/>
          </a:solidFill>
          <a:ln w="12700">
            <a:solidFill>
              <a:srgbClr val="081E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43216" y="1837944"/>
            <a:ext cx="3995928" cy="4197096"/>
          </a:xfrm>
          <a:prstGeom prst="roundRect">
            <a:avLst>
              <a:gd name="adj" fmla="val 10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029700" y="1682496"/>
            <a:ext cx="822960" cy="82296"/>
          </a:xfrm>
          <a:prstGeom prst="roundRect">
            <a:avLst>
              <a:gd name="adj" fmla="val 50000"/>
            </a:avLst>
          </a:prstGeom>
          <a:solidFill>
            <a:srgbClr val="08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029700" y="6099048"/>
            <a:ext cx="822960" cy="44450"/>
          </a:xfrm>
          <a:prstGeom prst="roundRect">
            <a:avLst>
              <a:gd name="adj" fmla="val 50000"/>
            </a:avLst>
          </a:prstGeom>
          <a:solidFill>
            <a:srgbClr val="3A5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580376" y="1975104"/>
            <a:ext cx="3721608" cy="3922776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115EA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109728" rIns="109728" tIns="91440" bIns="320040"/>
          <a:lstStyle/>
          <a:p>
            <a:pPr algn="ctr"/>
            <a:r>
              <a:rPr sz="1300" i="1" b="1">
                <a:solidFill>
                  <a:srgbClr val="115EAD"/>
                </a:solidFill>
                <a:latin typeface="Segoe UI"/>
              </a:rPr>
              <a:t>[Insert Download Screen Screenshot]</a:t>
            </a:r>
          </a:p>
        </p:txBody>
      </p:sp>
      <p:sp>
        <p:nvSpPr>
          <p:cNvPr id="21" name="Oval 20"/>
          <p:cNvSpPr/>
          <p:nvPr/>
        </p:nvSpPr>
        <p:spPr>
          <a:xfrm>
            <a:off x="9189720" y="3364992"/>
            <a:ext cx="502920" cy="502920"/>
          </a:xfrm>
          <a:prstGeom prst="ellipse">
            <a:avLst/>
          </a:prstGeom>
          <a:solidFill>
            <a:srgbClr val="115E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0">
                <a:solidFill>
                  <a:srgbClr val="FFFFFF"/>
                </a:solidFill>
              </a:rPr>
              <a:t>📷</a:t>
            </a:r>
          </a:p>
        </p:txBody>
      </p:sp>
    </p:spTree>
  </p:cSld>
  <p:transition spd="slow">
    <p:fade/>
  </p:transition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A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38100"/>
          </a:xfrm>
          <a:prstGeom prst="rect">
            <a:avLst/>
          </a:prstGeom>
          <a:solidFill>
            <a:srgbClr val="E8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8BE6"/>
                </a:solidFill>
                <a:latin typeface="Segoe UI Semibold"/>
              </a:rPr>
              <a:t>STEP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Pending Readings 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41148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Segoe UI Light"/>
              </a:rP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73952"/>
            <a:ext cx="11183112" cy="15240"/>
          </a:xfrm>
          <a:prstGeom prst="rect">
            <a:avLst/>
          </a:prstGeom>
          <a:solidFill>
            <a:srgbClr val="D3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B7C"/>
                </a:solidFill>
                <a:latin typeface="Segoe UI"/>
              </a:rPr>
              <a:t>Heavy Supply Billing (HSB) – Mobile Application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510528"/>
            <a:ext cx="16276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B7C"/>
                </a:solidFill>
                <a:latin typeface="Segoe UI"/>
              </a:rPr>
              <a:t>07 / 14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115E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2728" y="1664208"/>
            <a:ext cx="5605272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B2633"/>
                </a:solidFill>
                <a:latin typeface="Segoe UI Semibold"/>
              </a:rPr>
              <a:t>Customers Awaiting Readings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5B6B7C"/>
                </a:solidFill>
                <a:latin typeface="Segoe UI"/>
              </a:rPr>
              <a:t>See every customer that still needs a reading.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743200"/>
            <a:ext cx="502920" cy="502920"/>
          </a:xfrm>
          <a:prstGeom prst="ellipse">
            <a:avLst/>
          </a:prstGeom>
          <a:solidFill>
            <a:srgbClr val="115E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0">
                <a:solidFill>
                  <a:srgbClr val="FFFFFF"/>
                </a:solidFill>
              </a:rPr>
              <a:t>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2728" y="2715768"/>
            <a:ext cx="5605272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B2633"/>
                </a:solidFill>
                <a:latin typeface="Segoe UI Semibold"/>
              </a:rPr>
              <a:t>Easy Selection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5B6B7C"/>
                </a:solidFill>
                <a:latin typeface="Segoe UI"/>
              </a:rPr>
              <a:t>Tap any customer to begin recording their reading.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794760"/>
            <a:ext cx="502920" cy="502920"/>
          </a:xfrm>
          <a:prstGeom prst="ellipse">
            <a:avLst/>
          </a:prstGeom>
          <a:solidFill>
            <a:srgbClr val="115E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0">
                <a:solidFill>
                  <a:srgbClr val="FFFFFF"/>
                </a:solidFill>
              </a:rPr>
              <a:t>🗂️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2728" y="3767328"/>
            <a:ext cx="5605272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B2633"/>
                </a:solidFill>
                <a:latin typeface="Segoe UI Semibold"/>
              </a:rPr>
              <a:t>Organized List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5B6B7C"/>
                </a:solidFill>
                <a:latin typeface="Segoe UI"/>
              </a:rPr>
              <a:t>Sorted and searchable so nothing is missed.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60920" y="1600200"/>
            <a:ext cx="4160520" cy="4617720"/>
          </a:xfrm>
          <a:prstGeom prst="roundRect">
            <a:avLst>
              <a:gd name="adj" fmla="val 9000"/>
            </a:avLst>
          </a:prstGeom>
          <a:solidFill>
            <a:srgbClr val="0A2C54"/>
          </a:solidFill>
          <a:ln w="12700">
            <a:solidFill>
              <a:srgbClr val="081E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43216" y="1837944"/>
            <a:ext cx="3995928" cy="4197096"/>
          </a:xfrm>
          <a:prstGeom prst="roundRect">
            <a:avLst>
              <a:gd name="adj" fmla="val 10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029700" y="1682496"/>
            <a:ext cx="822960" cy="82296"/>
          </a:xfrm>
          <a:prstGeom prst="roundRect">
            <a:avLst>
              <a:gd name="adj" fmla="val 50000"/>
            </a:avLst>
          </a:prstGeom>
          <a:solidFill>
            <a:srgbClr val="08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029700" y="6099048"/>
            <a:ext cx="822960" cy="44450"/>
          </a:xfrm>
          <a:prstGeom prst="roundRect">
            <a:avLst>
              <a:gd name="adj" fmla="val 50000"/>
            </a:avLst>
          </a:prstGeom>
          <a:solidFill>
            <a:srgbClr val="3A5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580376" y="1975104"/>
            <a:ext cx="3721608" cy="3922776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115EA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109728" rIns="109728" tIns="91440" bIns="320040"/>
          <a:lstStyle/>
          <a:p>
            <a:pPr algn="ctr"/>
            <a:r>
              <a:rPr sz="1300" i="1" b="1">
                <a:solidFill>
                  <a:srgbClr val="115EAD"/>
                </a:solidFill>
                <a:latin typeface="Segoe UI"/>
              </a:rPr>
              <a:t>[Insert Pending List Screenshot]</a:t>
            </a:r>
          </a:p>
        </p:txBody>
      </p:sp>
      <p:sp>
        <p:nvSpPr>
          <p:cNvPr id="21" name="Oval 20"/>
          <p:cNvSpPr/>
          <p:nvPr/>
        </p:nvSpPr>
        <p:spPr>
          <a:xfrm>
            <a:off x="9189720" y="3364992"/>
            <a:ext cx="502920" cy="502920"/>
          </a:xfrm>
          <a:prstGeom prst="ellipse">
            <a:avLst/>
          </a:prstGeom>
          <a:solidFill>
            <a:srgbClr val="115E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0">
                <a:solidFill>
                  <a:srgbClr val="FFFFFF"/>
                </a:solidFill>
              </a:rPr>
              <a:t>📷</a:t>
            </a:r>
          </a:p>
        </p:txBody>
      </p:sp>
    </p:spTree>
  </p:cSld>
  <p:transition spd="slow">
    <p:fade/>
  </p:transition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A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38100"/>
          </a:xfrm>
          <a:prstGeom prst="rect">
            <a:avLst/>
          </a:prstGeom>
          <a:solidFill>
            <a:srgbClr val="E8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8BE6"/>
                </a:solidFill>
                <a:latin typeface="Segoe UI Semibold"/>
              </a:rPr>
              <a:t>STEP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Customer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41148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Segoe UI Light"/>
              </a:rPr>
              <a:t>08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73952"/>
            <a:ext cx="11183112" cy="15240"/>
          </a:xfrm>
          <a:prstGeom prst="rect">
            <a:avLst/>
          </a:prstGeom>
          <a:solidFill>
            <a:srgbClr val="D3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B7C"/>
                </a:solidFill>
                <a:latin typeface="Segoe UI"/>
              </a:rPr>
              <a:t>Heavy Supply Billing (HSB) – Mobile Application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510528"/>
            <a:ext cx="16276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B7C"/>
                </a:solidFill>
                <a:latin typeface="Segoe UI"/>
              </a:rPr>
              <a:t>08 / 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6309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B6B7C"/>
                </a:solidFill>
                <a:latin typeface="Segoe UI"/>
              </a:rPr>
              <a:t>Key information shown before entering a reading: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94560"/>
            <a:ext cx="6309360" cy="566928"/>
          </a:xfrm>
          <a:prstGeom prst="roundRect">
            <a:avLst>
              <a:gd name="adj" fmla="val 18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04088" y="2249424"/>
            <a:ext cx="457200" cy="457200"/>
          </a:xfrm>
          <a:prstGeom prst="ellipse">
            <a:avLst/>
          </a:prstGeom>
          <a:solidFill>
            <a:srgbClr val="115E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0">
                <a:solidFill>
                  <a:srgbClr val="FFFFFF"/>
                </a:solidFill>
              </a:rPr>
              <a:t>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194560"/>
            <a:ext cx="53949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B2633"/>
                </a:solidFill>
                <a:latin typeface="Segoe UI Semibold"/>
              </a:rPr>
              <a:t>Account Number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07792"/>
            <a:ext cx="6309360" cy="566928"/>
          </a:xfrm>
          <a:prstGeom prst="roundRect">
            <a:avLst>
              <a:gd name="adj" fmla="val 18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04088" y="2962656"/>
            <a:ext cx="457200" cy="457200"/>
          </a:xfrm>
          <a:prstGeom prst="ellipse">
            <a:avLst/>
          </a:prstGeom>
          <a:solidFill>
            <a:srgbClr val="115E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0">
                <a:solidFill>
                  <a:srgbClr val="FFFFFF"/>
                </a:solidFill>
              </a:rPr>
              <a:t>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07792"/>
            <a:ext cx="53949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B2633"/>
                </a:solidFill>
                <a:latin typeface="Segoe UI Semibold"/>
              </a:rPr>
              <a:t>Customer Name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621024"/>
            <a:ext cx="6309360" cy="566928"/>
          </a:xfrm>
          <a:prstGeom prst="roundRect">
            <a:avLst>
              <a:gd name="adj" fmla="val 18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04088" y="3675888"/>
            <a:ext cx="457200" cy="457200"/>
          </a:xfrm>
          <a:prstGeom prst="ellipse">
            <a:avLst/>
          </a:prstGeom>
          <a:solidFill>
            <a:srgbClr val="115E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0">
                <a:solidFill>
                  <a:srgbClr val="FFFFFF"/>
                </a:solidFill>
              </a:rPr>
              <a:t>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621024"/>
            <a:ext cx="53949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B2633"/>
                </a:solidFill>
                <a:latin typeface="Segoe UI Semibold"/>
              </a:rPr>
              <a:t>Address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334256"/>
            <a:ext cx="6309360" cy="566928"/>
          </a:xfrm>
          <a:prstGeom prst="roundRect">
            <a:avLst>
              <a:gd name="adj" fmla="val 18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04088" y="4389120"/>
            <a:ext cx="457200" cy="457200"/>
          </a:xfrm>
          <a:prstGeom prst="ellipse">
            <a:avLst/>
          </a:prstGeom>
          <a:solidFill>
            <a:srgbClr val="115E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0">
                <a:solidFill>
                  <a:srgbClr val="FFFFFF"/>
                </a:solidFill>
              </a:rPr>
              <a:t>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334256"/>
            <a:ext cx="53949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B2633"/>
                </a:solidFill>
                <a:latin typeface="Segoe UI Semibold"/>
              </a:rPr>
              <a:t>Previous Reading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047488"/>
            <a:ext cx="6309360" cy="566928"/>
          </a:xfrm>
          <a:prstGeom prst="roundRect">
            <a:avLst>
              <a:gd name="adj" fmla="val 18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04088" y="5102352"/>
            <a:ext cx="457200" cy="457200"/>
          </a:xfrm>
          <a:prstGeom prst="ellipse">
            <a:avLst/>
          </a:prstGeom>
          <a:solidFill>
            <a:srgbClr val="115E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0">
                <a:solidFill>
                  <a:srgbClr val="FFFFFF"/>
                </a:solidFill>
              </a:rPr>
              <a:t>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5047488"/>
            <a:ext cx="53949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B2633"/>
                </a:solidFill>
                <a:latin typeface="Segoe UI Semibold"/>
              </a:rPr>
              <a:t>Due Date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60920" y="1600200"/>
            <a:ext cx="4160520" cy="4617720"/>
          </a:xfrm>
          <a:prstGeom prst="roundRect">
            <a:avLst>
              <a:gd name="adj" fmla="val 9000"/>
            </a:avLst>
          </a:prstGeom>
          <a:solidFill>
            <a:srgbClr val="0A2C54"/>
          </a:solidFill>
          <a:ln w="12700">
            <a:solidFill>
              <a:srgbClr val="081E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443216" y="1837944"/>
            <a:ext cx="3995928" cy="4197096"/>
          </a:xfrm>
          <a:prstGeom prst="roundRect">
            <a:avLst>
              <a:gd name="adj" fmla="val 10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029700" y="1682496"/>
            <a:ext cx="822960" cy="82296"/>
          </a:xfrm>
          <a:prstGeom prst="roundRect">
            <a:avLst>
              <a:gd name="adj" fmla="val 50000"/>
            </a:avLst>
          </a:prstGeom>
          <a:solidFill>
            <a:srgbClr val="08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029700" y="6099048"/>
            <a:ext cx="822960" cy="44450"/>
          </a:xfrm>
          <a:prstGeom prst="roundRect">
            <a:avLst>
              <a:gd name="adj" fmla="val 50000"/>
            </a:avLst>
          </a:prstGeom>
          <a:solidFill>
            <a:srgbClr val="3A5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580376" y="1975104"/>
            <a:ext cx="3721608" cy="3922776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115EA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109728" rIns="109728" tIns="91440" bIns="320040"/>
          <a:lstStyle/>
          <a:p>
            <a:pPr algn="ctr"/>
            <a:r>
              <a:rPr sz="1300" i="1" b="1">
                <a:solidFill>
                  <a:srgbClr val="115EAD"/>
                </a:solidFill>
                <a:latin typeface="Segoe UI"/>
              </a:rPr>
              <a:t>[Insert Customer Details Screenshot]</a:t>
            </a:r>
          </a:p>
        </p:txBody>
      </p:sp>
      <p:sp>
        <p:nvSpPr>
          <p:cNvPr id="31" name="Oval 30"/>
          <p:cNvSpPr/>
          <p:nvPr/>
        </p:nvSpPr>
        <p:spPr>
          <a:xfrm>
            <a:off x="9189720" y="3364992"/>
            <a:ext cx="502920" cy="502920"/>
          </a:xfrm>
          <a:prstGeom prst="ellipse">
            <a:avLst/>
          </a:prstGeom>
          <a:solidFill>
            <a:srgbClr val="115E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0">
                <a:solidFill>
                  <a:srgbClr val="FFFFFF"/>
                </a:solidFill>
              </a:rPr>
              <a:t>📷</a:t>
            </a:r>
          </a:p>
        </p:txBody>
      </p:sp>
    </p:spTree>
  </p:cSld>
  <p:transition spd="slow">
    <p:fade/>
  </p:transition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A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38100"/>
          </a:xfrm>
          <a:prstGeom prst="rect">
            <a:avLst/>
          </a:prstGeom>
          <a:solidFill>
            <a:srgbClr val="E8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8BE6"/>
                </a:solidFill>
                <a:latin typeface="Segoe UI Semibold"/>
              </a:rPr>
              <a:t>STEP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Enter Meter Reading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41148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Segoe UI Light"/>
              </a:rPr>
              <a:t>09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73952"/>
            <a:ext cx="11183112" cy="15240"/>
          </a:xfrm>
          <a:prstGeom prst="rect">
            <a:avLst/>
          </a:prstGeom>
          <a:solidFill>
            <a:srgbClr val="D3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B7C"/>
                </a:solidFill>
                <a:latin typeface="Segoe UI"/>
              </a:rPr>
              <a:t>Heavy Supply Billing (HSB) – Mobile Application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510528"/>
            <a:ext cx="16276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B7C"/>
                </a:solidFill>
                <a:latin typeface="Segoe UI"/>
              </a:rPr>
              <a:t>09 / 14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115E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0">
                <a:solidFill>
                  <a:srgbClr val="FFFFFF"/>
                </a:solidFill>
              </a:rPr>
              <a:t>✏️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2728" y="1664208"/>
            <a:ext cx="5605272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B2633"/>
                </a:solidFill>
                <a:latin typeface="Segoe UI Semibold"/>
              </a:rPr>
              <a:t>Enter the Current Reading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5B6B7C"/>
                </a:solidFill>
                <a:latin typeface="Segoe UI"/>
              </a:rPr>
              <a:t>Type the value shown on the customer's meter.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743200"/>
            <a:ext cx="502920" cy="502920"/>
          </a:xfrm>
          <a:prstGeom prst="ellipse">
            <a:avLst/>
          </a:prstGeom>
          <a:solidFill>
            <a:srgbClr val="115E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0">
                <a:solidFill>
                  <a:srgbClr val="FFFFFF"/>
                </a:solidFill>
              </a:rPr>
              <a:t>⚠️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2728" y="2715768"/>
            <a:ext cx="5605272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B2633"/>
                </a:solidFill>
                <a:latin typeface="Segoe UI Semibold"/>
              </a:rPr>
              <a:t>Built-in Validation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5B6B7C"/>
                </a:solidFill>
                <a:latin typeface="Segoe UI"/>
              </a:rPr>
              <a:t>Alerts you if a value looks incorrect before saving.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794760"/>
            <a:ext cx="502920" cy="502920"/>
          </a:xfrm>
          <a:prstGeom prst="ellipse">
            <a:avLst/>
          </a:prstGeom>
          <a:solidFill>
            <a:srgbClr val="115E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0">
                <a:solidFill>
                  <a:srgbClr val="FFFFFF"/>
                </a:solidFill>
              </a:rPr>
              <a:t>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2728" y="3767328"/>
            <a:ext cx="5605272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B2633"/>
                </a:solidFill>
                <a:latin typeface="Segoe UI Semibold"/>
              </a:rPr>
              <a:t>Save Successfully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5B6B7C"/>
                </a:solidFill>
                <a:latin typeface="Segoe UI"/>
              </a:rPr>
              <a:t>Confirmed readings are stored safely on your device.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60920" y="1600200"/>
            <a:ext cx="4160520" cy="4617720"/>
          </a:xfrm>
          <a:prstGeom prst="roundRect">
            <a:avLst>
              <a:gd name="adj" fmla="val 9000"/>
            </a:avLst>
          </a:prstGeom>
          <a:solidFill>
            <a:srgbClr val="0A2C54"/>
          </a:solidFill>
          <a:ln w="12700">
            <a:solidFill>
              <a:srgbClr val="081E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43216" y="1837944"/>
            <a:ext cx="3995928" cy="4197096"/>
          </a:xfrm>
          <a:prstGeom prst="roundRect">
            <a:avLst>
              <a:gd name="adj" fmla="val 10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029700" y="1682496"/>
            <a:ext cx="822960" cy="82296"/>
          </a:xfrm>
          <a:prstGeom prst="roundRect">
            <a:avLst>
              <a:gd name="adj" fmla="val 50000"/>
            </a:avLst>
          </a:prstGeom>
          <a:solidFill>
            <a:srgbClr val="08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029700" y="6099048"/>
            <a:ext cx="822960" cy="44450"/>
          </a:xfrm>
          <a:prstGeom prst="roundRect">
            <a:avLst>
              <a:gd name="adj" fmla="val 50000"/>
            </a:avLst>
          </a:prstGeom>
          <a:solidFill>
            <a:srgbClr val="3A5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580376" y="1975104"/>
            <a:ext cx="3721608" cy="3922776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115EA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109728" rIns="109728" tIns="91440" bIns="320040"/>
          <a:lstStyle/>
          <a:p>
            <a:pPr algn="ctr"/>
            <a:r>
              <a:rPr sz="1300" i="1" b="1">
                <a:solidFill>
                  <a:srgbClr val="115EAD"/>
                </a:solidFill>
                <a:latin typeface="Segoe UI"/>
              </a:rPr>
              <a:t>[Insert Meter Reading Screen Screenshot]</a:t>
            </a:r>
          </a:p>
        </p:txBody>
      </p:sp>
      <p:sp>
        <p:nvSpPr>
          <p:cNvPr id="21" name="Oval 20"/>
          <p:cNvSpPr/>
          <p:nvPr/>
        </p:nvSpPr>
        <p:spPr>
          <a:xfrm>
            <a:off x="9189720" y="3364992"/>
            <a:ext cx="502920" cy="502920"/>
          </a:xfrm>
          <a:prstGeom prst="ellipse">
            <a:avLst/>
          </a:prstGeom>
          <a:solidFill>
            <a:srgbClr val="115E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0">
                <a:solidFill>
                  <a:srgbClr val="FFFFFF"/>
                </a:solidFill>
              </a:rPr>
              <a:t>📷</a:t>
            </a:r>
          </a:p>
        </p:txBody>
      </p:sp>
    </p:spTree>
  </p:cSld>
  <p:transition spd="slow">
    <p:fade/>
  </p:transition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A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38100"/>
          </a:xfrm>
          <a:prstGeom prst="rect">
            <a:avLst/>
          </a:prstGeom>
          <a:solidFill>
            <a:srgbClr val="E8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8BE6"/>
                </a:solidFill>
                <a:latin typeface="Segoe UI Semibold"/>
              </a:rPr>
              <a:t>STEP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Synchronization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41148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Segoe UI Light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73952"/>
            <a:ext cx="11183112" cy="15240"/>
          </a:xfrm>
          <a:prstGeom prst="rect">
            <a:avLst/>
          </a:prstGeom>
          <a:solidFill>
            <a:srgbClr val="D3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B7C"/>
                </a:solidFill>
                <a:latin typeface="Segoe UI"/>
              </a:rPr>
              <a:t>Heavy Supply Billing (HSB) – Mobile Application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510528"/>
            <a:ext cx="16276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B7C"/>
                </a:solidFill>
                <a:latin typeface="Segoe UI"/>
              </a:rPr>
              <a:t>10 / 14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115E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0">
                <a:solidFill>
                  <a:srgbClr val="FFFFFF"/>
                </a:solidFill>
              </a:rPr>
              <a:t>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2728" y="1664208"/>
            <a:ext cx="5605272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B2633"/>
                </a:solidFill>
                <a:latin typeface="Segoe UI Semibold"/>
              </a:rPr>
              <a:t>Sync Completed Readings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5B6B7C"/>
                </a:solidFill>
                <a:latin typeface="Segoe UI"/>
              </a:rPr>
              <a:t>Send all saved readings back to the HSB system.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743200"/>
            <a:ext cx="502920" cy="502920"/>
          </a:xfrm>
          <a:prstGeom prst="ellipse">
            <a:avLst/>
          </a:prstGeom>
          <a:solidFill>
            <a:srgbClr val="115E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2728" y="2715768"/>
            <a:ext cx="5605272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B2633"/>
                </a:solidFill>
                <a:latin typeface="Segoe UI Semibold"/>
              </a:rPr>
              <a:t>Upload Status Shown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5B6B7C"/>
                </a:solidFill>
                <a:latin typeface="Segoe UI"/>
              </a:rPr>
              <a:t>Track progress and confirm every reading is sent.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794760"/>
            <a:ext cx="502920" cy="502920"/>
          </a:xfrm>
          <a:prstGeom prst="ellipse">
            <a:avLst/>
          </a:prstGeom>
          <a:solidFill>
            <a:srgbClr val="115E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0">
                <a:solidFill>
                  <a:srgbClr val="FFFFFF"/>
                </a:solidFill>
              </a:rPr>
              <a:t>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2728" y="3767328"/>
            <a:ext cx="5605272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B2633"/>
                </a:solidFill>
                <a:latin typeface="Segoe UI Semibold"/>
              </a:rPr>
              <a:t>Data Reaches the Office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5B6B7C"/>
                </a:solidFill>
                <a:latin typeface="Segoe UI"/>
              </a:rPr>
              <a:t>Readings become available to HSB immediately after sync.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60920" y="1600200"/>
            <a:ext cx="4160520" cy="4617720"/>
          </a:xfrm>
          <a:prstGeom prst="roundRect">
            <a:avLst>
              <a:gd name="adj" fmla="val 9000"/>
            </a:avLst>
          </a:prstGeom>
          <a:solidFill>
            <a:srgbClr val="0A2C54"/>
          </a:solidFill>
          <a:ln w="12700">
            <a:solidFill>
              <a:srgbClr val="081E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43216" y="1837944"/>
            <a:ext cx="3995928" cy="4197096"/>
          </a:xfrm>
          <a:prstGeom prst="roundRect">
            <a:avLst>
              <a:gd name="adj" fmla="val 10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029700" y="1682496"/>
            <a:ext cx="822960" cy="82296"/>
          </a:xfrm>
          <a:prstGeom prst="roundRect">
            <a:avLst>
              <a:gd name="adj" fmla="val 50000"/>
            </a:avLst>
          </a:prstGeom>
          <a:solidFill>
            <a:srgbClr val="08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029700" y="6099048"/>
            <a:ext cx="822960" cy="44450"/>
          </a:xfrm>
          <a:prstGeom prst="roundRect">
            <a:avLst>
              <a:gd name="adj" fmla="val 50000"/>
            </a:avLst>
          </a:prstGeom>
          <a:solidFill>
            <a:srgbClr val="3A5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580376" y="1975104"/>
            <a:ext cx="3721608" cy="3922776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115EA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109728" rIns="109728" tIns="91440" bIns="320040"/>
          <a:lstStyle/>
          <a:p>
            <a:pPr algn="ctr"/>
            <a:r>
              <a:rPr sz="1300" i="1" b="1">
                <a:solidFill>
                  <a:srgbClr val="115EAD"/>
                </a:solidFill>
                <a:latin typeface="Segoe UI"/>
              </a:rPr>
              <a:t>[Insert Synchronization Screenshot]</a:t>
            </a:r>
          </a:p>
        </p:txBody>
      </p:sp>
      <p:sp>
        <p:nvSpPr>
          <p:cNvPr id="21" name="Oval 20"/>
          <p:cNvSpPr/>
          <p:nvPr/>
        </p:nvSpPr>
        <p:spPr>
          <a:xfrm>
            <a:off x="9189720" y="3364992"/>
            <a:ext cx="502920" cy="502920"/>
          </a:xfrm>
          <a:prstGeom prst="ellipse">
            <a:avLst/>
          </a:prstGeom>
          <a:solidFill>
            <a:srgbClr val="115E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0">
                <a:solidFill>
                  <a:srgbClr val="FFFFFF"/>
                </a:solidFill>
              </a:rPr>
              <a:t>📷</a:t>
            </a:r>
          </a:p>
        </p:txBody>
      </p:sp>
    </p:spTree>
  </p:cSld>
  <p:transition spd="slow">
    <p:fade/>
  </p:transition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A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38100"/>
          </a:xfrm>
          <a:prstGeom prst="rect">
            <a:avLst/>
          </a:prstGeom>
          <a:solidFill>
            <a:srgbClr val="E8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8BE6"/>
                </a:solidFill>
                <a:latin typeface="Segoe UI Semibold"/>
              </a:rPr>
              <a:t>STEP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Settings &amp; Logout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41148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Segoe UI Light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73952"/>
            <a:ext cx="11183112" cy="15240"/>
          </a:xfrm>
          <a:prstGeom prst="rect">
            <a:avLst/>
          </a:prstGeom>
          <a:solidFill>
            <a:srgbClr val="D3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B7C"/>
                </a:solidFill>
                <a:latin typeface="Segoe UI"/>
              </a:rPr>
              <a:t>Heavy Supply Billing (HSB) – Mobile Application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510528"/>
            <a:ext cx="16276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B7C"/>
                </a:solidFill>
                <a:latin typeface="Segoe UI"/>
              </a:rPr>
              <a:t>11 / 14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115E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0">
                <a:solidFill>
                  <a:srgbClr val="FFFFFF"/>
                </a:solidFill>
              </a:rPr>
              <a:t>⚙️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2728" y="1664208"/>
            <a:ext cx="5605272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B2633"/>
                </a:solidFill>
                <a:latin typeface="Segoe UI Semibold"/>
              </a:rPr>
              <a:t>User Settings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5B6B7C"/>
                </a:solidFill>
                <a:latin typeface="Segoe UI"/>
              </a:rPr>
              <a:t>Manage your preferences and app options.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743200"/>
            <a:ext cx="502920" cy="502920"/>
          </a:xfrm>
          <a:prstGeom prst="ellipse">
            <a:avLst/>
          </a:prstGeom>
          <a:solidFill>
            <a:srgbClr val="115E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0">
                <a:solidFill>
                  <a:srgbClr val="FFFFFF"/>
                </a:solidFill>
              </a:rPr>
              <a:t>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2728" y="2715768"/>
            <a:ext cx="5605272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B2633"/>
                </a:solidFill>
                <a:latin typeface="Segoe UI Semibold"/>
              </a:rPr>
              <a:t>Secure Logout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5B6B7C"/>
                </a:solidFill>
                <a:latin typeface="Segoe UI"/>
              </a:rPr>
              <a:t>Sign out safely when your work session ends.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794760"/>
            <a:ext cx="502920" cy="502920"/>
          </a:xfrm>
          <a:prstGeom prst="ellipse">
            <a:avLst/>
          </a:prstGeom>
          <a:solidFill>
            <a:srgbClr val="115E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0">
                <a:solidFill>
                  <a:srgbClr val="FFFFFF"/>
                </a:solidFill>
              </a:rPr>
              <a:t>🛡️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2728" y="3767328"/>
            <a:ext cx="5605272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B2633"/>
                </a:solidFill>
                <a:latin typeface="Segoe UI Semibold"/>
              </a:rPr>
              <a:t>Protects Your Data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5B6B7C"/>
                </a:solidFill>
                <a:latin typeface="Segoe UI"/>
              </a:rPr>
              <a:t>Keeps customer information safe on shared devices.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60920" y="1600200"/>
            <a:ext cx="4160520" cy="4617720"/>
          </a:xfrm>
          <a:prstGeom prst="roundRect">
            <a:avLst>
              <a:gd name="adj" fmla="val 9000"/>
            </a:avLst>
          </a:prstGeom>
          <a:solidFill>
            <a:srgbClr val="0A2C54"/>
          </a:solidFill>
          <a:ln w="12700">
            <a:solidFill>
              <a:srgbClr val="081E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43216" y="1837944"/>
            <a:ext cx="3995928" cy="4197096"/>
          </a:xfrm>
          <a:prstGeom prst="roundRect">
            <a:avLst>
              <a:gd name="adj" fmla="val 10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029700" y="1682496"/>
            <a:ext cx="822960" cy="82296"/>
          </a:xfrm>
          <a:prstGeom prst="roundRect">
            <a:avLst>
              <a:gd name="adj" fmla="val 50000"/>
            </a:avLst>
          </a:prstGeom>
          <a:solidFill>
            <a:srgbClr val="08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029700" y="6099048"/>
            <a:ext cx="822960" cy="44450"/>
          </a:xfrm>
          <a:prstGeom prst="roundRect">
            <a:avLst>
              <a:gd name="adj" fmla="val 50000"/>
            </a:avLst>
          </a:prstGeom>
          <a:solidFill>
            <a:srgbClr val="3A5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580376" y="1975104"/>
            <a:ext cx="3721608" cy="3922776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115EA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109728" rIns="109728" tIns="91440" bIns="320040"/>
          <a:lstStyle/>
          <a:p>
            <a:pPr algn="ctr"/>
            <a:r>
              <a:rPr sz="1300" i="1" b="1">
                <a:solidFill>
                  <a:srgbClr val="115EAD"/>
                </a:solidFill>
                <a:latin typeface="Segoe UI"/>
              </a:rPr>
              <a:t>[Insert Settings Screenshot]</a:t>
            </a:r>
          </a:p>
        </p:txBody>
      </p:sp>
      <p:sp>
        <p:nvSpPr>
          <p:cNvPr id="21" name="Oval 20"/>
          <p:cNvSpPr/>
          <p:nvPr/>
        </p:nvSpPr>
        <p:spPr>
          <a:xfrm>
            <a:off x="9189720" y="3364992"/>
            <a:ext cx="502920" cy="502920"/>
          </a:xfrm>
          <a:prstGeom prst="ellipse">
            <a:avLst/>
          </a:prstGeom>
          <a:solidFill>
            <a:srgbClr val="115E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0">
                <a:solidFill>
                  <a:srgbClr val="FFFFFF"/>
                </a:solidFill>
              </a:rPr>
              <a:t>📷</a:t>
            </a:r>
          </a:p>
        </p:txBody>
      </p:sp>
    </p:spTree>
  </p:cSld>
  <p:transition spd="slow">
    <p:fade/>
  </p:transition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A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38100"/>
          </a:xfrm>
          <a:prstGeom prst="rect">
            <a:avLst/>
          </a:prstGeom>
          <a:solidFill>
            <a:srgbClr val="E8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8BE6"/>
                </a:solidFill>
                <a:latin typeface="Segoe UI Semibold"/>
              </a:rPr>
              <a:t>WHY IT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Benefits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41148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Segoe UI Light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73952"/>
            <a:ext cx="11183112" cy="15240"/>
          </a:xfrm>
          <a:prstGeom prst="rect">
            <a:avLst/>
          </a:prstGeom>
          <a:solidFill>
            <a:srgbClr val="D3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B7C"/>
                </a:solidFill>
                <a:latin typeface="Segoe UI"/>
              </a:rPr>
              <a:t>Heavy Supply Billing (HSB) – Mobile Application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510528"/>
            <a:ext cx="16276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B7C"/>
                </a:solidFill>
                <a:latin typeface="Segoe UI"/>
              </a:rPr>
              <a:t>12 / 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691640"/>
            <a:ext cx="361188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E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9808" y="1892808"/>
            <a:ext cx="731520" cy="731520"/>
          </a:xfrm>
          <a:prstGeom prst="ellipse">
            <a:avLst/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400" b="0">
                <a:solidFill>
                  <a:srgbClr val="115EAD"/>
                </a:solidFill>
              </a:rPr>
              <a:t>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1947672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B2633"/>
                </a:solidFill>
                <a:latin typeface="Segoe UI Semibold"/>
              </a:rPr>
              <a:t>Faster Data Collection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350008"/>
            <a:ext cx="233172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B6B7C"/>
                </a:solidFill>
                <a:latin typeface="Segoe UI"/>
              </a:rPr>
              <a:t>Readings captured on-site in seconds, not days.</a:t>
            </a:r>
          </a:p>
        </p:txBody>
      </p:sp>
      <p:sp>
        <p:nvSpPr>
          <p:cNvPr id="14" name="Oval 13"/>
          <p:cNvSpPr/>
          <p:nvPr/>
        </p:nvSpPr>
        <p:spPr>
          <a:xfrm>
            <a:off x="3749040" y="1792224"/>
            <a:ext cx="310896" cy="310896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16552" y="1691640"/>
            <a:ext cx="361188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E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617720" y="1892808"/>
            <a:ext cx="731520" cy="731520"/>
          </a:xfrm>
          <a:prstGeom prst="ellipse">
            <a:avLst/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400" b="0">
                <a:solidFill>
                  <a:srgbClr val="115EAD"/>
                </a:solidFill>
              </a:rPr>
              <a:t>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13832" y="1947672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B2633"/>
                </a:solidFill>
                <a:latin typeface="Segoe UI Semibold"/>
              </a:rPr>
              <a:t>Easy to Use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13832" y="2350008"/>
            <a:ext cx="233172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B6B7C"/>
                </a:solidFill>
                <a:latin typeface="Segoe UI"/>
              </a:rPr>
              <a:t>A simple, guided flow needs no special training.</a:t>
            </a:r>
          </a:p>
        </p:txBody>
      </p:sp>
      <p:sp>
        <p:nvSpPr>
          <p:cNvPr id="19" name="Oval 18"/>
          <p:cNvSpPr/>
          <p:nvPr/>
        </p:nvSpPr>
        <p:spPr>
          <a:xfrm>
            <a:off x="7616952" y="1792224"/>
            <a:ext cx="310896" cy="310896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84464" y="1691640"/>
            <a:ext cx="361188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E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85632" y="1892808"/>
            <a:ext cx="731520" cy="731520"/>
          </a:xfrm>
          <a:prstGeom prst="ellipse">
            <a:avLst/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400" b="0">
                <a:solidFill>
                  <a:srgbClr val="115EAD"/>
                </a:solidFill>
              </a:rPr>
              <a:t>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81744" y="1947672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B2633"/>
                </a:solidFill>
                <a:latin typeface="Segoe UI Semibold"/>
              </a:rPr>
              <a:t>Reduced Paperwork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81744" y="2350008"/>
            <a:ext cx="233172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B6B7C"/>
                </a:solidFill>
                <a:latin typeface="Segoe UI"/>
              </a:rPr>
              <a:t>No more paper forms, folders or manual filing.</a:t>
            </a:r>
          </a:p>
        </p:txBody>
      </p:sp>
      <p:sp>
        <p:nvSpPr>
          <p:cNvPr id="24" name="Oval 23"/>
          <p:cNvSpPr/>
          <p:nvPr/>
        </p:nvSpPr>
        <p:spPr>
          <a:xfrm>
            <a:off x="11484864" y="1792224"/>
            <a:ext cx="310896" cy="310896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840479"/>
            <a:ext cx="361188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E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49808" y="4041647"/>
            <a:ext cx="731520" cy="731520"/>
          </a:xfrm>
          <a:prstGeom prst="ellipse">
            <a:avLst/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400" b="0">
                <a:solidFill>
                  <a:srgbClr val="115EAD"/>
                </a:solidFill>
              </a:rPr>
              <a:t>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4096511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B2633"/>
                </a:solidFill>
                <a:latin typeface="Segoe UI Semibold"/>
              </a:rPr>
              <a:t>Better Accuracy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4498847"/>
            <a:ext cx="233172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B6B7C"/>
                </a:solidFill>
                <a:latin typeface="Segoe UI"/>
              </a:rPr>
              <a:t>Built-in validation prevents incorrect entries.</a:t>
            </a:r>
          </a:p>
        </p:txBody>
      </p:sp>
      <p:sp>
        <p:nvSpPr>
          <p:cNvPr id="29" name="Oval 28"/>
          <p:cNvSpPr/>
          <p:nvPr/>
        </p:nvSpPr>
        <p:spPr>
          <a:xfrm>
            <a:off x="3749040" y="3941063"/>
            <a:ext cx="310896" cy="310896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16552" y="3840479"/>
            <a:ext cx="361188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E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617720" y="4041647"/>
            <a:ext cx="731520" cy="731520"/>
          </a:xfrm>
          <a:prstGeom prst="ellipse">
            <a:avLst/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400" b="0">
                <a:solidFill>
                  <a:srgbClr val="115EAD"/>
                </a:solidFill>
              </a:rPr>
              <a:t>🗂️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13832" y="4096511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B2633"/>
                </a:solidFill>
                <a:latin typeface="Segoe UI Semibold"/>
              </a:rPr>
              <a:t>Organized Workflow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13832" y="4498847"/>
            <a:ext cx="233172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B6B7C"/>
                </a:solidFill>
                <a:latin typeface="Segoe UI"/>
              </a:rPr>
              <a:t>Clear steps from download through to sync.</a:t>
            </a:r>
          </a:p>
        </p:txBody>
      </p:sp>
      <p:sp>
        <p:nvSpPr>
          <p:cNvPr id="34" name="Oval 33"/>
          <p:cNvSpPr/>
          <p:nvPr/>
        </p:nvSpPr>
        <p:spPr>
          <a:xfrm>
            <a:off x="7616952" y="3941063"/>
            <a:ext cx="310896" cy="310896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84464" y="3840479"/>
            <a:ext cx="361188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3E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485632" y="4041647"/>
            <a:ext cx="731520" cy="731520"/>
          </a:xfrm>
          <a:prstGeom prst="ellipse">
            <a:avLst/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400" b="0">
                <a:solidFill>
                  <a:srgbClr val="115EAD"/>
                </a:solidFill>
              </a:rPr>
              <a:t>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81744" y="4096511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B2633"/>
                </a:solidFill>
                <a:latin typeface="Segoe UI Semibold"/>
              </a:rPr>
              <a:t>Secure User Access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81744" y="4498847"/>
            <a:ext cx="233172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B6B7C"/>
                </a:solidFill>
                <a:latin typeface="Segoe UI"/>
              </a:rPr>
              <a:t>Only authorized staff can log in and record data.</a:t>
            </a:r>
          </a:p>
        </p:txBody>
      </p:sp>
      <p:sp>
        <p:nvSpPr>
          <p:cNvPr id="39" name="Oval 38"/>
          <p:cNvSpPr/>
          <p:nvPr/>
        </p:nvSpPr>
        <p:spPr>
          <a:xfrm>
            <a:off x="11484864" y="3941063"/>
            <a:ext cx="310896" cy="310896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0">
                <a:solidFill>
                  <a:srgbClr val="FFFFFF"/>
                </a:solidFill>
              </a:rPr>
              <a:t>✓</a:t>
            </a:r>
          </a:p>
        </p:txBody>
      </p:sp>
    </p:spTree>
  </p:cSld>
  <p:transition spd="slow">
    <p:fade/>
  </p:transition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A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38100"/>
          </a:xfrm>
          <a:prstGeom prst="rect">
            <a:avLst/>
          </a:prstGeom>
          <a:solidFill>
            <a:srgbClr val="E8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8BE6"/>
                </a:solidFill>
                <a:latin typeface="Segoe UI Semibold"/>
              </a:rPr>
              <a:t>YOUR VOICE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We Need Your Feedback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41148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Segoe UI Light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73952"/>
            <a:ext cx="11183112" cy="15240"/>
          </a:xfrm>
          <a:prstGeom prst="rect">
            <a:avLst/>
          </a:prstGeom>
          <a:solidFill>
            <a:srgbClr val="D3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B7C"/>
                </a:solidFill>
                <a:latin typeface="Segoe UI"/>
              </a:rPr>
              <a:t>Heavy Supply Billing (HSB) – Mobile Application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510528"/>
            <a:ext cx="16276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B7C"/>
                </a:solidFill>
                <a:latin typeface="Segoe UI"/>
              </a:rPr>
              <a:t>13 / 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B6B7C"/>
                </a:solidFill>
                <a:latin typeface="Segoe UI"/>
              </a:rPr>
              <a:t>Before this application is finalized, please share your honest thoughts on these questions: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057400"/>
            <a:ext cx="11064240" cy="640080"/>
          </a:xfrm>
          <a:prstGeom prst="roundRect">
            <a:avLst>
              <a:gd name="adj" fmla="val 14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103120"/>
            <a:ext cx="548640" cy="548640"/>
          </a:xfrm>
          <a:prstGeom prst="ellipse">
            <a:avLst/>
          </a:prstGeom>
          <a:solidFill>
            <a:srgbClr val="115E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0">
                <a:solidFill>
                  <a:srgbClr val="FFFFFF"/>
                </a:solidFill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057400"/>
            <a:ext cx="9875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B2633"/>
                </a:solidFill>
                <a:latin typeface="Segoe UI Semibold"/>
              </a:rPr>
              <a:t>Is the application easy to use?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834640"/>
            <a:ext cx="11064240" cy="640080"/>
          </a:xfrm>
          <a:prstGeom prst="roundRect">
            <a:avLst>
              <a:gd name="adj" fmla="val 14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1520" y="2880360"/>
            <a:ext cx="548640" cy="548640"/>
          </a:xfrm>
          <a:prstGeom prst="ellipse">
            <a:avLst/>
          </a:prstGeom>
          <a:solidFill>
            <a:srgbClr val="115E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0">
                <a:solidFill>
                  <a:srgbClr val="FFFFFF"/>
                </a:solidFill>
              </a:rPr>
              <a:t>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834640"/>
            <a:ext cx="9875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B2633"/>
                </a:solidFill>
                <a:latin typeface="Segoe UI Semibold"/>
              </a:rPr>
              <a:t>Is any information missing on the screens?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611880"/>
            <a:ext cx="11064240" cy="640080"/>
          </a:xfrm>
          <a:prstGeom prst="roundRect">
            <a:avLst>
              <a:gd name="adj" fmla="val 14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3657600"/>
            <a:ext cx="548640" cy="548640"/>
          </a:xfrm>
          <a:prstGeom prst="ellipse">
            <a:avLst/>
          </a:prstGeom>
          <a:solidFill>
            <a:srgbClr val="115E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0">
                <a:solidFill>
                  <a:srgbClr val="FFFFFF"/>
                </a:solidFill>
              </a:rPr>
              <a:t>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611880"/>
            <a:ext cx="9875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B2633"/>
                </a:solidFill>
                <a:latin typeface="Segoe UI Semibold"/>
              </a:rPr>
              <a:t>Are the screens easy to understand?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389120"/>
            <a:ext cx="11064240" cy="640080"/>
          </a:xfrm>
          <a:prstGeom prst="roundRect">
            <a:avLst>
              <a:gd name="adj" fmla="val 14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4434840"/>
            <a:ext cx="548640" cy="548640"/>
          </a:xfrm>
          <a:prstGeom prst="ellipse">
            <a:avLst/>
          </a:prstGeom>
          <a:solidFill>
            <a:srgbClr val="115E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0">
                <a:solidFill>
                  <a:srgbClr val="FFFFFF"/>
                </a:solidFill>
              </a:rPr>
              <a:t>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4389120"/>
            <a:ext cx="9875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B2633"/>
                </a:solidFill>
                <a:latin typeface="Segoe UI Semibold"/>
              </a:rPr>
              <a:t>What improvements would you suggest?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166360"/>
            <a:ext cx="11064240" cy="640080"/>
          </a:xfrm>
          <a:prstGeom prst="roundRect">
            <a:avLst>
              <a:gd name="adj" fmla="val 14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5212080"/>
            <a:ext cx="548640" cy="548640"/>
          </a:xfrm>
          <a:prstGeom prst="ellipse">
            <a:avLst/>
          </a:prstGeom>
          <a:solidFill>
            <a:srgbClr val="115E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0">
                <a:solidFill>
                  <a:srgbClr val="FFFFFF"/>
                </a:solidFill>
              </a:rPr>
              <a:t>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5166360"/>
            <a:ext cx="9875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B2633"/>
                </a:solidFill>
                <a:latin typeface="Segoe UI Semibold"/>
              </a:rPr>
              <a:t>Does the workflow match your daily work?</a:t>
            </a:r>
          </a:p>
        </p:txBody>
      </p:sp>
    </p:spTree>
  </p:cSld>
  <p:transition spd="slow">
    <p:fade/>
  </p:transition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C5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08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89904"/>
            <a:ext cx="12191695" cy="38100"/>
          </a:xfrm>
          <a:prstGeom prst="rect">
            <a:avLst/>
          </a:prstGeom>
          <a:solidFill>
            <a:srgbClr val="E8A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501487" y="1371600"/>
            <a:ext cx="1188720" cy="1188720"/>
          </a:xfrm>
          <a:prstGeom prst="ellipse">
            <a:avLst/>
          </a:prstGeom>
          <a:solidFill>
            <a:srgbClr val="2E8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4200" b="0">
                <a:solidFill>
                  <a:srgbClr val="FFFFFF"/>
                </a:solidFill>
              </a:rPr>
              <a:t>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88920"/>
            <a:ext cx="94457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 i="0">
                <a:solidFill>
                  <a:srgbClr val="FFFFFF"/>
                </a:solidFill>
                <a:latin typeface="Segoe U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611880"/>
            <a:ext cx="94457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9CC5EE"/>
                </a:solidFill>
                <a:latin typeface="Segoe UI Light"/>
              </a:rP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6263640"/>
            <a:ext cx="94457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7FA5CC"/>
                </a:solidFill>
                <a:latin typeface="Segoe UI"/>
              </a:rPr>
              <a:t>Ceylon Electricity Board – Heavy Supply Billing (HSB) Mobile Application</a:t>
            </a:r>
          </a:p>
        </p:txBody>
      </p:sp>
    </p:spTree>
  </p:cSld>
  <p:transition spd="slow">
    <p:fade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